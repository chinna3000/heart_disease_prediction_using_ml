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8235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1CF0C-FE12-1DFF-1626-FEF19CE9C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FD4DCA-3630-2A30-2FD8-54AD806CFC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44E811-D2BC-C7D0-B006-251BDEFB53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C11C9-D2FF-2B9A-8AA4-6D3060A815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8075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457200"/>
            <a:ext cx="2194560" cy="2194560"/>
          </a:xfrm>
          <a:prstGeom prst="ellipse">
            <a:avLst/>
          </a:prstGeom>
          <a:solidFill>
            <a:srgbClr val="E94560">
              <a:alpha val="85000"/>
            </a:srgbClr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583680" y="50292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FFFFFF"/>
                </a:solidFill>
              </a:rPr>
              <a:t>♥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73152" cy="21945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23444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58368" y="196596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System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58368" y="274320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Web Application using Random Forest Classifier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3337560"/>
            <a:ext cx="1188720" cy="292608"/>
          </a:xfrm>
          <a:prstGeom prst="roundRect">
            <a:avLst>
              <a:gd name="adj" fmla="val 31250"/>
            </a:avLst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33375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84248" y="3337560"/>
            <a:ext cx="1188720" cy="292608"/>
          </a:xfrm>
          <a:prstGeom prst="roundRect">
            <a:avLst>
              <a:gd name="adj" fmla="val 31250"/>
            </a:avLst>
          </a:prstGeom>
          <a:solidFill>
            <a:srgbClr val="0F3460"/>
          </a:solidFill>
          <a:ln/>
        </p:spPr>
      </p:sp>
      <p:sp>
        <p:nvSpPr>
          <p:cNvPr id="11" name="Text 9"/>
          <p:cNvSpPr/>
          <p:nvPr/>
        </p:nvSpPr>
        <p:spPr>
          <a:xfrm>
            <a:off x="1984248" y="33375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10128" y="3337560"/>
            <a:ext cx="1188720" cy="292608"/>
          </a:xfrm>
          <a:prstGeom prst="roundRect">
            <a:avLst>
              <a:gd name="adj" fmla="val 31250"/>
            </a:avLst>
          </a:prstGeom>
          <a:solidFill>
            <a:srgbClr val="0F3460"/>
          </a:solidFill>
          <a:ln/>
        </p:spPr>
      </p:sp>
      <p:sp>
        <p:nvSpPr>
          <p:cNvPr id="13" name="Text 11"/>
          <p:cNvSpPr/>
          <p:nvPr/>
        </p:nvSpPr>
        <p:spPr>
          <a:xfrm>
            <a:off x="3310128" y="33375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36008" y="3337560"/>
            <a:ext cx="1188720" cy="292608"/>
          </a:xfrm>
          <a:prstGeom prst="roundRect">
            <a:avLst>
              <a:gd name="adj" fmla="val 31250"/>
            </a:avLst>
          </a:prstGeom>
          <a:solidFill>
            <a:srgbClr val="0F3460"/>
          </a:solidFill>
          <a:ln/>
        </p:spPr>
      </p:sp>
      <p:sp>
        <p:nvSpPr>
          <p:cNvPr id="15" name="Text 13"/>
          <p:cNvSpPr/>
          <p:nvPr/>
        </p:nvSpPr>
        <p:spPr>
          <a:xfrm>
            <a:off x="4636008" y="33375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0" y="46634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ED2A9E-C149-8D9D-94CB-49BF67F2D353}"/>
              </a:ext>
            </a:extLst>
          </p:cNvPr>
          <p:cNvSpPr txBox="1"/>
          <p:nvPr/>
        </p:nvSpPr>
        <p:spPr>
          <a:xfrm>
            <a:off x="569538" y="4017109"/>
            <a:ext cx="52669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: Srihari K V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National Degree College, </a:t>
            </a:r>
            <a:r>
              <a:rPr lang="en-US" sz="1200" dirty="0" err="1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Bagepalli</a:t>
            </a:r>
            <a:endParaRPr lang="en-US" sz="1200" dirty="0">
              <a:solidFill>
                <a:srgbClr val="8EAEC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B340901A-2220-F001-411D-4A8BF1E3635F}"/>
              </a:ext>
            </a:extLst>
          </p:cNvPr>
          <p:cNvSpPr/>
          <p:nvPr/>
        </p:nvSpPr>
        <p:spPr>
          <a:xfrm>
            <a:off x="658368" y="367588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Chinna S   ·   Praveen H N   ·   </a:t>
            </a:r>
            <a:r>
              <a:rPr lang="en-US" sz="1500" dirty="0" err="1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Varaprasad</a:t>
            </a:r>
            <a:r>
              <a:rPr lang="en-US" sz="15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4005072"/>
          </a:xfrm>
          <a:prstGeom prst="roundRect">
            <a:avLst>
              <a:gd name="adj" fmla="val 2740"/>
            </a:avLst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96012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389888"/>
            <a:ext cx="7680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remains one of the leading causes of mortality worldwide. Early and accurate prediction can significantly reduce fatalities by enabling timely medical intervention. This project presents a web-based Heart Disease Prediction System built using Python and the Flask framework, powered by a Random Forest Classifier trained on clinical patient data.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accepts patient health parameters — including age, chest pain type, blood pressure, cholesterol, maximum heart rate, ST depression, fluoroscopy vessel count, and thallium scan results — and predicts the likelihood of heart disease presence or absence.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also includes secure user authentication, email-based registration, comparative health visualization charts, and a SQLite database backend. The goal is to provide a simple yet powerful decision-support tool for early cardiovascular risk assessment.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Heart Disease Prediction Matters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651760" cy="1170432"/>
          </a:xfrm>
          <a:prstGeom prst="roundRect">
            <a:avLst>
              <a:gd name="adj" fmla="val 9375"/>
            </a:avLst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8961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of Death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822960"/>
            <a:ext cx="2651760" cy="1170432"/>
          </a:xfrm>
          <a:prstGeom prst="roundRect">
            <a:avLst>
              <a:gd name="adj" fmla="val 9375"/>
            </a:avLst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8961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17.9M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46120" y="141732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per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(WHO)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2651760" cy="1170432"/>
          </a:xfrm>
          <a:prstGeom prst="roundRect">
            <a:avLst>
              <a:gd name="adj" fmla="val 9375"/>
            </a:avLst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72200" y="8961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172200" y="141732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Preventable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Early Detection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176272"/>
            <a:ext cx="4160520" cy="1170432"/>
          </a:xfrm>
          <a:prstGeom prst="roundRect">
            <a:avLst>
              <a:gd name="adj" fmla="val 9375"/>
            </a:avLst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" y="22677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Problem Statement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" y="259689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diagnosis relies on time-consuming clinical tests. A fast, data-driven predictor can complement medical decision-making.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176272"/>
            <a:ext cx="4160520" cy="1170432"/>
          </a:xfrm>
          <a:prstGeom prst="roundRect">
            <a:avLst>
              <a:gd name="adj" fmla="val 9375"/>
            </a:avLst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73752" y="22677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73752" y="259689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Flask web application that predicts heart disease using patient vitals via a trained Random Forest ML model.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474720"/>
            <a:ext cx="4160520" cy="1170432"/>
          </a:xfrm>
          <a:prstGeom prst="roundRect">
            <a:avLst>
              <a:gd name="adj" fmla="val 9375"/>
            </a:avLst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" y="3566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Dataset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" y="3895344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 patient records with 13 clinical features including age, cholesterol, blood pressure, and heart rate.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3474720"/>
            <a:ext cx="4160520" cy="1170432"/>
          </a:xfrm>
          <a:prstGeom prst="roundRect">
            <a:avLst>
              <a:gd name="adj" fmla="val 9375"/>
            </a:avLst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73752" y="3566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Significance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73752" y="3895344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instant risk assessment, reduces diagnostic delay, and supports doctors with automated second opinions.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ML Pipeline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777240"/>
            <a:ext cx="2788920" cy="1920240"/>
          </a:xfrm>
          <a:prstGeom prst="roundRect">
            <a:avLst>
              <a:gd name="adj" fmla="val 5714"/>
            </a:avLst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0624" y="941832"/>
            <a:ext cx="475488" cy="47548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" y="95097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960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0624" y="1472184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dataset (270 records, 13 features). Features: Age, Sex, BP, Cholesterol, Max HR, Thallium, etc.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7832" y="777240"/>
            <a:ext cx="2788920" cy="1920240"/>
          </a:xfrm>
          <a:prstGeom prst="roundRect">
            <a:avLst>
              <a:gd name="adj" fmla="val 5714"/>
            </a:avLst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92424" y="941832"/>
            <a:ext cx="475488" cy="47548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2" name="Text 10"/>
          <p:cNvSpPr/>
          <p:nvPr/>
        </p:nvSpPr>
        <p:spPr>
          <a:xfrm>
            <a:off x="3392424" y="95097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77640" y="960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92424" y="1472184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— 8 key predictors chosen. Target: Heart Disease (Presence / Absence).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99632" y="777240"/>
            <a:ext cx="2788920" cy="1920240"/>
          </a:xfrm>
          <a:prstGeom prst="roundRect">
            <a:avLst>
              <a:gd name="adj" fmla="val 5714"/>
            </a:avLst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64224" y="941832"/>
            <a:ext cx="475488" cy="47548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6364224" y="95097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49440" y="960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64224" y="1472184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(sklearn). Model serialized to heartdiseaseprediction.model via pickle.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2834640"/>
            <a:ext cx="2788920" cy="1920240"/>
          </a:xfrm>
          <a:prstGeom prst="roundRect">
            <a:avLst>
              <a:gd name="adj" fmla="val 5714"/>
            </a:avLst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0624" y="2999232"/>
            <a:ext cx="475488" cy="47548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2" name="Text 20"/>
          <p:cNvSpPr/>
          <p:nvPr/>
        </p:nvSpPr>
        <p:spPr>
          <a:xfrm>
            <a:off x="420624" y="300837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20624" y="3529584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app with routes: /signup, /login, /find, /check (prediction), /show_graph.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27832" y="2834640"/>
            <a:ext cx="2788920" cy="1920240"/>
          </a:xfrm>
          <a:prstGeom prst="roundRect">
            <a:avLst>
              <a:gd name="adj" fmla="val 5714"/>
            </a:avLst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92424" y="2999232"/>
            <a:ext cx="475488" cy="47548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7" name="Text 25"/>
          <p:cNvSpPr/>
          <p:nvPr/>
        </p:nvSpPr>
        <p:spPr>
          <a:xfrm>
            <a:off x="3392424" y="300837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77640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392424" y="3529584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inputs vitals → DataFrame created → Model loaded → predict() called → Result rendered.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99632" y="2834640"/>
            <a:ext cx="2788920" cy="1920240"/>
          </a:xfrm>
          <a:prstGeom prst="roundRect">
            <a:avLst>
              <a:gd name="adj" fmla="val 5714"/>
            </a:avLst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64224" y="2999232"/>
            <a:ext cx="475488" cy="47548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32" name="Text 30"/>
          <p:cNvSpPr/>
          <p:nvPr/>
        </p:nvSpPr>
        <p:spPr>
          <a:xfrm>
            <a:off x="6364224" y="300837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49440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364224" y="3529584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bar chart comparing patient data vs healthy baselines using matplotlib.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336A19-CE76-2789-9E1F-53DE11378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0">
            <a:extLst>
              <a:ext uri="{FF2B5EF4-FFF2-40B4-BE49-F238E27FC236}">
                <a16:creationId xmlns:a16="http://schemas.microsoft.com/office/drawing/2014/main" id="{CD176F09-E21B-B927-5802-BD714BC005DA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9071E99-04CF-19E5-6CA9-0DD25B068983}"/>
              </a:ext>
            </a:extLst>
          </p:cNvPr>
          <p:cNvSpPr txBox="1"/>
          <p:nvPr/>
        </p:nvSpPr>
        <p:spPr>
          <a:xfrm>
            <a:off x="0" y="502920"/>
            <a:ext cx="45948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ML Pipeline</a:t>
            </a:r>
            <a:endParaRPr lang="en-US" sz="11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1897504-5110-163C-DDEA-A3DABED06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43" y="787102"/>
            <a:ext cx="5015888" cy="4243170"/>
          </a:xfrm>
          <a:prstGeom prst="rect">
            <a:avLst/>
          </a:prstGeom>
        </p:spPr>
      </p:pic>
      <p:sp>
        <p:nvSpPr>
          <p:cNvPr id="50" name="Shape 15">
            <a:extLst>
              <a:ext uri="{FF2B5EF4-FFF2-40B4-BE49-F238E27FC236}">
                <a16:creationId xmlns:a16="http://schemas.microsoft.com/office/drawing/2014/main" id="{3F5A0F37-0372-838C-402F-15EA841AAA3C}"/>
              </a:ext>
            </a:extLst>
          </p:cNvPr>
          <p:cNvSpPr/>
          <p:nvPr/>
        </p:nvSpPr>
        <p:spPr>
          <a:xfrm>
            <a:off x="5233183" y="764530"/>
            <a:ext cx="3777174" cy="484237"/>
          </a:xfrm>
          <a:prstGeom prst="roundRect">
            <a:avLst>
              <a:gd name="adj" fmla="val 26667"/>
            </a:avLst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E05D8AC-BF4C-7D7F-4900-2AC94CBDD273}"/>
              </a:ext>
            </a:extLst>
          </p:cNvPr>
          <p:cNvSpPr txBox="1"/>
          <p:nvPr/>
        </p:nvSpPr>
        <p:spPr>
          <a:xfrm>
            <a:off x="5233183" y="787102"/>
            <a:ext cx="3516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Different ML algorithms were compared for Heart Disease Prediction</a:t>
            </a:r>
          </a:p>
        </p:txBody>
      </p:sp>
      <p:sp>
        <p:nvSpPr>
          <p:cNvPr id="55" name="Shape 15">
            <a:extLst>
              <a:ext uri="{FF2B5EF4-FFF2-40B4-BE49-F238E27FC236}">
                <a16:creationId xmlns:a16="http://schemas.microsoft.com/office/drawing/2014/main" id="{86CE03CF-CBC1-9B6B-EA8E-86774BAE503B}"/>
              </a:ext>
            </a:extLst>
          </p:cNvPr>
          <p:cNvSpPr/>
          <p:nvPr/>
        </p:nvSpPr>
        <p:spPr>
          <a:xfrm>
            <a:off x="5233183" y="1401167"/>
            <a:ext cx="3777174" cy="484237"/>
          </a:xfrm>
          <a:prstGeom prst="roundRect">
            <a:avLst>
              <a:gd name="adj" fmla="val 26667"/>
            </a:avLst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B0F3EB8B-0C00-09A6-5726-A7D4E70045C1}"/>
              </a:ext>
            </a:extLst>
          </p:cNvPr>
          <p:cNvSpPr/>
          <p:nvPr/>
        </p:nvSpPr>
        <p:spPr>
          <a:xfrm>
            <a:off x="5233183" y="3950363"/>
            <a:ext cx="3777174" cy="484237"/>
          </a:xfrm>
          <a:prstGeom prst="roundRect">
            <a:avLst>
              <a:gd name="adj" fmla="val 26667"/>
            </a:avLst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7" name="Shape 15">
            <a:extLst>
              <a:ext uri="{FF2B5EF4-FFF2-40B4-BE49-F238E27FC236}">
                <a16:creationId xmlns:a16="http://schemas.microsoft.com/office/drawing/2014/main" id="{F824A458-9176-8249-A9E5-3F7549948ED8}"/>
              </a:ext>
            </a:extLst>
          </p:cNvPr>
          <p:cNvSpPr/>
          <p:nvPr/>
        </p:nvSpPr>
        <p:spPr>
          <a:xfrm>
            <a:off x="5233183" y="3313064"/>
            <a:ext cx="3777174" cy="484237"/>
          </a:xfrm>
          <a:prstGeom prst="roundRect">
            <a:avLst>
              <a:gd name="adj" fmla="val 26667"/>
            </a:avLst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8" name="Shape 15">
            <a:extLst>
              <a:ext uri="{FF2B5EF4-FFF2-40B4-BE49-F238E27FC236}">
                <a16:creationId xmlns:a16="http://schemas.microsoft.com/office/drawing/2014/main" id="{95A98F2E-B026-54EA-A15B-CB90F6237ABE}"/>
              </a:ext>
            </a:extLst>
          </p:cNvPr>
          <p:cNvSpPr/>
          <p:nvPr/>
        </p:nvSpPr>
        <p:spPr>
          <a:xfrm>
            <a:off x="5233183" y="2675765"/>
            <a:ext cx="3777174" cy="484237"/>
          </a:xfrm>
          <a:prstGeom prst="roundRect">
            <a:avLst>
              <a:gd name="adj" fmla="val 26667"/>
            </a:avLst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9" name="Shape 15">
            <a:extLst>
              <a:ext uri="{FF2B5EF4-FFF2-40B4-BE49-F238E27FC236}">
                <a16:creationId xmlns:a16="http://schemas.microsoft.com/office/drawing/2014/main" id="{C20F2D0C-F4EE-7BB7-D3D5-34B50B318836}"/>
              </a:ext>
            </a:extLst>
          </p:cNvPr>
          <p:cNvSpPr/>
          <p:nvPr/>
        </p:nvSpPr>
        <p:spPr>
          <a:xfrm>
            <a:off x="5233183" y="2038466"/>
            <a:ext cx="3777174" cy="484237"/>
          </a:xfrm>
          <a:prstGeom prst="roundRect">
            <a:avLst>
              <a:gd name="adj" fmla="val 26667"/>
            </a:avLst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5526308-347F-4626-F7A3-A760B8F718C2}"/>
              </a:ext>
            </a:extLst>
          </p:cNvPr>
          <p:cNvSpPr txBox="1"/>
          <p:nvPr/>
        </p:nvSpPr>
        <p:spPr>
          <a:xfrm>
            <a:off x="5233183" y="1458619"/>
            <a:ext cx="4596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SVM achieved 87% accuracy</a:t>
            </a:r>
            <a:r>
              <a:rPr lang="en-IN" dirty="0"/>
              <a:t>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33547F8-71D8-BEAF-AF30-6C45A7F70014}"/>
              </a:ext>
            </a:extLst>
          </p:cNvPr>
          <p:cNvSpPr txBox="1"/>
          <p:nvPr/>
        </p:nvSpPr>
        <p:spPr>
          <a:xfrm>
            <a:off x="5233183" y="2114601"/>
            <a:ext cx="37771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Neural Networks achieved 89% accuracy.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8AFCE8E-6551-4A67-D48A-605D7C36E373}"/>
              </a:ext>
            </a:extLst>
          </p:cNvPr>
          <p:cNvSpPr txBox="1"/>
          <p:nvPr/>
        </p:nvSpPr>
        <p:spPr>
          <a:xfrm>
            <a:off x="5233183" y="2749494"/>
            <a:ext cx="36066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Random Forest achieved the highest accuracy of 91%.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F4566E0-F47E-3306-B31B-55B8EE63B73C}"/>
              </a:ext>
            </a:extLst>
          </p:cNvPr>
          <p:cNvSpPr txBox="1"/>
          <p:nvPr/>
        </p:nvSpPr>
        <p:spPr>
          <a:xfrm>
            <a:off x="5233183" y="3313064"/>
            <a:ext cx="32549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Random Forest provides better performance and reliability for medical prediction.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EA1B9A3-8236-6240-848D-7805D1AEC859}"/>
              </a:ext>
            </a:extLst>
          </p:cNvPr>
          <p:cNvSpPr txBox="1"/>
          <p:nvPr/>
        </p:nvSpPr>
        <p:spPr>
          <a:xfrm>
            <a:off x="5233183" y="3950363"/>
            <a:ext cx="3409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Existing studies mainly focus on accuracy but lack user-friendly clinical applications.</a:t>
            </a:r>
          </a:p>
        </p:txBody>
      </p:sp>
      <p:sp>
        <p:nvSpPr>
          <p:cNvPr id="71" name="Shape 15">
            <a:extLst>
              <a:ext uri="{FF2B5EF4-FFF2-40B4-BE49-F238E27FC236}">
                <a16:creationId xmlns:a16="http://schemas.microsoft.com/office/drawing/2014/main" id="{D71D5335-E8C2-EEA6-3411-0189C3435EA9}"/>
              </a:ext>
            </a:extLst>
          </p:cNvPr>
          <p:cNvSpPr/>
          <p:nvPr/>
        </p:nvSpPr>
        <p:spPr>
          <a:xfrm>
            <a:off x="5233183" y="4565090"/>
            <a:ext cx="3777174" cy="484237"/>
          </a:xfrm>
          <a:prstGeom prst="roundRect">
            <a:avLst>
              <a:gd name="adj" fmla="val 26667"/>
            </a:avLst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4FC807F-BEF6-7CD5-86EC-4B0336485449}"/>
              </a:ext>
            </a:extLst>
          </p:cNvPr>
          <p:cNvSpPr txBox="1"/>
          <p:nvPr/>
        </p:nvSpPr>
        <p:spPr>
          <a:xfrm>
            <a:off x="5233183" y="4568607"/>
            <a:ext cx="3606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Our project improves usability using a Flask-based web application with real-time prediction and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2379444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Software Requirements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023360" cy="4160520"/>
          </a:xfrm>
          <a:prstGeom prst="roundRect">
            <a:avLst>
              <a:gd name="adj" fmla="val 2727"/>
            </a:avLst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778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Hardware Requirements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16736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Processor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810512" y="131673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Core i3 or above (2.0 GHz+)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84708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RAM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810512" y="184708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4 GB (8 GB recommended)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37744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Storage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810512" y="23774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20 GB free disk space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90779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Display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10512" y="290779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1280 × 720 or higher resolution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438144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Network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810512" y="34381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connection (for email)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3968496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Input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810512" y="396849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keyboard and mouse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749808"/>
            <a:ext cx="4023360" cy="4160520"/>
          </a:xfrm>
          <a:prstGeom prst="roundRect">
            <a:avLst>
              <a:gd name="adj" fmla="val 2727"/>
            </a:avLst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74920" y="8778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Software Requirements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74920" y="13167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81344" y="131673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 / Ubuntu 20.04+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74920" y="172821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Language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81344" y="172821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3.8+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74920" y="213969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Framework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81344" y="213969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(Web), Jinja2 (Templates)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74920" y="255117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ML Library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81344" y="255117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(Random Forest)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74920" y="296265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81344" y="296265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74920" y="33741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Visualization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81344" y="337413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74920" y="378561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Database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81344" y="378561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 (myheart.db)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74920" y="419709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Mail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81344" y="419709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Flask-Mail (SMTP Gmail)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Achieved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Performance &amp; Outputs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1965960" cy="1097280"/>
          </a:xfrm>
          <a:prstGeom prst="roundRect">
            <a:avLst>
              <a:gd name="adj" fmla="val 10000"/>
            </a:avLst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229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</a:t>
            </a:r>
            <a:r>
              <a:rPr lang="en-US" sz="2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2800" b="1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35331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50592" y="749808"/>
            <a:ext cx="1965960" cy="1097280"/>
          </a:xfrm>
          <a:prstGeom prst="roundRect">
            <a:avLst>
              <a:gd name="adj" fmla="val 10000"/>
            </a:avLst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8229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50592" y="135331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Records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26864" y="749808"/>
            <a:ext cx="1965960" cy="1097280"/>
          </a:xfrm>
          <a:prstGeom prst="roundRect">
            <a:avLst>
              <a:gd name="adj" fmla="val 10000"/>
            </a:avLst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26864" y="8229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26864" y="135331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03136" y="749808"/>
            <a:ext cx="1965960" cy="1097280"/>
          </a:xfrm>
          <a:prstGeom prst="roundRect">
            <a:avLst>
              <a:gd name="adj" fmla="val 10000"/>
            </a:avLst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03136" y="8229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803136" y="135331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Classes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011680"/>
            <a:ext cx="8595360" cy="411480"/>
          </a:xfrm>
          <a:prstGeom prst="roundRect">
            <a:avLst>
              <a:gd name="adj" fmla="val 26667"/>
            </a:avLst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" y="20299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Functional Flask web app with full user registration, login, and forgot-password flow.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496312"/>
            <a:ext cx="8595360" cy="411480"/>
          </a:xfrm>
          <a:prstGeom prst="roundRect">
            <a:avLst>
              <a:gd name="adj" fmla="val 26667"/>
            </a:avLst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" y="25146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Random Forest model successfully trained and serialized; predicts Presence / Absence of heart disease.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980944"/>
            <a:ext cx="8595360" cy="411480"/>
          </a:xfrm>
          <a:prstGeom prst="roundRect">
            <a:avLst>
              <a:gd name="adj" fmla="val 26667"/>
            </a:avLst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" y="29992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Email notifications sent on new user signup using Flask-Mail (Gmail SMTP).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465576"/>
            <a:ext cx="8595360" cy="411480"/>
          </a:xfrm>
          <a:prstGeom prst="roundRect">
            <a:avLst>
              <a:gd name="adj" fmla="val 26667"/>
            </a:avLst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" y="34838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Interactive bar chart rendered comparing patient vitals vs. healthy baseline values.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950208"/>
            <a:ext cx="8595360" cy="411480"/>
          </a:xfrm>
          <a:prstGeom prst="roundRect">
            <a:avLst>
              <a:gd name="adj" fmla="val 26667"/>
            </a:avLst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" y="39684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Patient data persisted in SQLite database (myheart.db) with secure session management.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434840"/>
            <a:ext cx="8595360" cy="411480"/>
          </a:xfrm>
          <a:prstGeom prst="roundRect">
            <a:avLst>
              <a:gd name="adj" fmla="val 26667"/>
            </a:avLst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" y="44531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Input features: Age, Chest Pain Type, BP, Cholesterol, Max HR, ST Depression, Vessels Fluro, Thallium.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2148840"/>
          </a:xfrm>
          <a:prstGeom prst="roundRect">
            <a:avLst>
              <a:gd name="adj" fmla="val 5106"/>
            </a:avLst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41248"/>
            <a:ext cx="8046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 Disease Prediction System successfully demonstrates the integration of machine learning with web development to address a critical healthcare challenge. Using a Random Forest Classifier trained on clinical data, the system achieves reliable prediction of heart disease risk from eight key physiological parameters.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Flask-based web application provides a seamless, user-friendly interface — complete with authentication, personalized health comparisons, and email notifications — making it accessible for patients and healthcare practitioners alike.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3401568"/>
            <a:ext cx="4206240" cy="676656"/>
          </a:xfrm>
          <a:prstGeom prst="roundRect">
            <a:avLst>
              <a:gd name="adj" fmla="val 16216"/>
            </a:avLst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3447288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Accurate ML-powered predictions using Random Forest.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81728" y="3401568"/>
            <a:ext cx="4206240" cy="676656"/>
          </a:xfrm>
          <a:prstGeom prst="roundRect">
            <a:avLst>
              <a:gd name="adj" fmla="val 16216"/>
            </a:avLst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64608" y="3447288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Full-stack web application accessible via any modern browser.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4206240"/>
            <a:ext cx="4206240" cy="676656"/>
          </a:xfrm>
          <a:prstGeom prst="roundRect">
            <a:avLst>
              <a:gd name="adj" fmla="val 16216"/>
            </a:avLst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4251960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Secure user management with session-based authentication.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81728" y="4206240"/>
            <a:ext cx="4206240" cy="676656"/>
          </a:xfrm>
          <a:prstGeom prst="roundRect">
            <a:avLst>
              <a:gd name="adj" fmla="val 16216"/>
            </a:avLst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64608" y="4251960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Visual health comparison to motivate healthy lifestyle choices.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for Improvement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2788920" cy="1920240"/>
          </a:xfrm>
          <a:prstGeom prst="roundRect">
            <a:avLst>
              <a:gd name="adj" fmla="val 5714"/>
            </a:avLst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07592" y="950976"/>
            <a:ext cx="658368" cy="658368"/>
          </a:xfrm>
          <a:prstGeom prst="ellipse">
            <a:avLst/>
          </a:prstGeom>
          <a:solidFill>
            <a:srgbClr val="E94560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307592" y="960120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20624" y="168249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0624" y="2066544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CNN / LSTM networks for improved accuracy and multi-modal health data processing.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27832" y="804672"/>
            <a:ext cx="2788920" cy="1920240"/>
          </a:xfrm>
          <a:prstGeom prst="roundRect">
            <a:avLst>
              <a:gd name="adj" fmla="val 5714"/>
            </a:avLst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79392" y="950976"/>
            <a:ext cx="658368" cy="658368"/>
          </a:xfrm>
          <a:prstGeom prst="ellipse">
            <a:avLst/>
          </a:prstGeom>
          <a:solidFill>
            <a:srgbClr val="E94560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279392" y="960120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92424" y="168249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92424" y="2066544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Android/iOS companion app for real-time monitoring and prediction on the go.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99632" y="804672"/>
            <a:ext cx="2788920" cy="1920240"/>
          </a:xfrm>
          <a:prstGeom prst="roundRect">
            <a:avLst>
              <a:gd name="adj" fmla="val 5714"/>
            </a:avLst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51192" y="950976"/>
            <a:ext cx="658368" cy="658368"/>
          </a:xfrm>
          <a:prstGeom prst="ellipse">
            <a:avLst/>
          </a:prstGeom>
          <a:solidFill>
            <a:srgbClr val="E94560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251192" y="960120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64224" y="168249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Clinical Features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64224" y="2066544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ECG signals, genetic markers, lifestyle data, and wearable device integrations.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2862072"/>
            <a:ext cx="2788920" cy="1920240"/>
          </a:xfrm>
          <a:prstGeom prst="roundRect">
            <a:avLst>
              <a:gd name="adj" fmla="val 5714"/>
            </a:avLst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307592" y="3008376"/>
            <a:ext cx="658368" cy="658368"/>
          </a:xfrm>
          <a:prstGeom prst="ellipse">
            <a:avLst/>
          </a:prstGeom>
          <a:solidFill>
            <a:srgbClr val="E94560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307592" y="3017520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20624" y="373989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20624" y="4123944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AWS / GCP / Azure with Docker for scalable, production-ready access.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27832" y="2862072"/>
            <a:ext cx="2788920" cy="1920240"/>
          </a:xfrm>
          <a:prstGeom prst="roundRect">
            <a:avLst>
              <a:gd name="adj" fmla="val 5714"/>
            </a:avLst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79392" y="3008376"/>
            <a:ext cx="658368" cy="658368"/>
          </a:xfrm>
          <a:prstGeom prst="ellipse">
            <a:avLst/>
          </a:prstGeom>
          <a:solidFill>
            <a:srgbClr val="E94560">
              <a:alpha val="8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279392" y="3017520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392424" y="373989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Security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392424" y="4123944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bcrypt password hashing, JWT tokens, HTTPS, and two-factor authentication.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99632" y="2862072"/>
            <a:ext cx="2788920" cy="1920240"/>
          </a:xfrm>
          <a:prstGeom prst="roundRect">
            <a:avLst>
              <a:gd name="adj" fmla="val 5714"/>
            </a:avLst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51192" y="3008376"/>
            <a:ext cx="658368" cy="658368"/>
          </a:xfrm>
          <a:prstGeom prst="ellipse">
            <a:avLst/>
          </a:prstGeom>
          <a:solidFill>
            <a:srgbClr val="E94560">
              <a:alpha val="8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251192" y="3017520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364224" y="373989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364224" y="4123944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dashboard with SHAP explainability, trend analysis, and population-level risk maps.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0" y="274320"/>
            <a:ext cx="2560320" cy="2560320"/>
          </a:xfrm>
          <a:prstGeom prst="ellipse">
            <a:avLst/>
          </a:prstGeom>
          <a:solidFill>
            <a:srgbClr val="E9456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291840" y="292608"/>
            <a:ext cx="2560320" cy="2523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0" dirty="0">
                <a:solidFill>
                  <a:srgbClr val="E94560"/>
                </a:solidFill>
              </a:rPr>
              <a:t>♥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0" y="2578608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2926080" y="3520440"/>
            <a:ext cx="329184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365760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3D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System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0" y="413308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477316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 |  Python  |  scikit-learn  |  SQLite  |  matplotlib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1011</Words>
  <Application>Microsoft Office PowerPoint</Application>
  <PresentationFormat>On-screen Show (16:9)</PresentationFormat>
  <Paragraphs>160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Disease Prediction</dc:title>
  <dc:subject>PptxGenJS Presentation</dc:subject>
  <dc:creator>PptxGenJS</dc:creator>
  <cp:lastModifiedBy>prajwal n</cp:lastModifiedBy>
  <cp:revision>5</cp:revision>
  <dcterms:created xsi:type="dcterms:W3CDTF">2026-05-07T11:23:44Z</dcterms:created>
  <dcterms:modified xsi:type="dcterms:W3CDTF">2026-05-07T17:38:28Z</dcterms:modified>
</cp:coreProperties>
</file>